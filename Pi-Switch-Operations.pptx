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af509113d504418" /><Relationship Type="http://schemas.openxmlformats.org/package/2006/relationships/metadata/core-properties" Target="/docProps/core.xml" Id="R999824fca72c4b92" /><Relationship Type="http://schemas.openxmlformats.org/officeDocument/2006/relationships/extended-properties" Target="/docProps/app.xml" Id="Rcc22f92f38e943a6" /><Relationship Type="http://schemas.openxmlformats.org/officeDocument/2006/relationships/custom-properties" Target="/docProps/custom.xml" Id="R55bc7ea16c6248e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f9d68bd36d74da5"/>
  </p:notesMasterIdLst>
  <p:sldIdLst>
    <p:sldId id="256" r:id="Rbad79cfbcc0c45a4"/>
    <p:sldId id="257" r:id="R7ff1722eb7734120"/>
    <p:sldId id="258" r:id="R163f8e943cb34d0e"/>
    <p:sldId id="259" r:id="R2b5b9eed2d114ec9"/>
    <p:sldId id="260" r:id="R72b6d0b4e26d4594"/>
    <p:sldId id="261" r:id="R275b99b64201446d"/>
    <p:sldId id="262" r:id="R6d2a3ed75341477a"/>
    <p:sldId id="263" r:id="R1d7ffd52dc2e4b43"/>
    <p:sldId id="264" r:id="R8ab687cb1d5f4918"/>
    <p:sldId id="265" r:id="R9d7365ff1062434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ad79cfbcc0c45a4" /><Relationship Type="http://schemas.openxmlformats.org/officeDocument/2006/relationships/notesMaster" Target="/ppt/notesMasters/notesMaster1.xml" Id="R3f9d68bd36d74da5" /><Relationship Type="http://schemas.openxmlformats.org/officeDocument/2006/relationships/slide" Target="/ppt/slides/slide2.xml" Id="R7ff1722eb7734120" /><Relationship Type="http://schemas.openxmlformats.org/officeDocument/2006/relationships/slide" Target="/ppt/slides/slide3.xml" Id="R163f8e943cb34d0e" /><Relationship Type="http://schemas.openxmlformats.org/officeDocument/2006/relationships/slide" Target="/ppt/slides/slide4.xml" Id="R2b5b9eed2d114ec9" /><Relationship Type="http://schemas.openxmlformats.org/officeDocument/2006/relationships/slide" Target="/ppt/slides/slide5.xml" Id="R72b6d0b4e26d4594" /><Relationship Type="http://schemas.openxmlformats.org/officeDocument/2006/relationships/slide" Target="/ppt/slides/slide6.xml" Id="R275b99b64201446d" /><Relationship Type="http://schemas.openxmlformats.org/officeDocument/2006/relationships/slide" Target="/ppt/slides/slide7.xml" Id="R6d2a3ed75341477a" /><Relationship Type="http://schemas.openxmlformats.org/officeDocument/2006/relationships/slide" Target="/ppt/slides/slide8.xml" Id="R1d7ffd52dc2e4b43" /><Relationship Type="http://schemas.openxmlformats.org/officeDocument/2006/relationships/slide" Target="/ppt/slides/slide9.xml" Id="R8ab687cb1d5f4918" /><Relationship Type="http://schemas.openxmlformats.org/officeDocument/2006/relationships/slide" Target="/ppt/slides/slide10.xml" Id="R9d7365ff106243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b42f3336a8f4c4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ddfc83500847f3" /><Relationship Type="http://schemas.openxmlformats.org/officeDocument/2006/relationships/slide" Target="/ppt/slides/slide1.xml" Id="R7c7d77976d7842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143e089e3b249bd" /><Relationship Type="http://schemas.openxmlformats.org/officeDocument/2006/relationships/slide" Target="/ppt/slides/slide3.xml" Id="Rc6892cc42d1c46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a2ca016391847f6" /><Relationship Type="http://schemas.openxmlformats.org/officeDocument/2006/relationships/slide" Target="/ppt/slides/slide5.xml" Id="R704d9054239249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25bc6e339e64c5f" /><Relationship Type="http://schemas.openxmlformats.org/officeDocument/2006/relationships/slide" Target="/ppt/slides/slide6.xml" Id="Rd499429efb1a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1ec3e12f5084d19" /><Relationship Type="http://schemas.openxmlformats.org/officeDocument/2006/relationships/slide" Target="/ppt/slides/slide7.xml" Id="Rc65db68364994d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96b00c83943446c" /><Relationship Type="http://schemas.openxmlformats.org/officeDocument/2006/relationships/slide" Target="/ppt/slides/slide8.xml" Id="R9a7451ee4ea547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65e7e9bde51489d" /><Relationship Type="http://schemas.openxmlformats.org/officeDocument/2006/relationships/slide" Target="/ppt/slides/slide9.xml" Id="R3c6511b44f9948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9b5a10260c84624" /><Relationship Type="http://schemas.openxmlformats.org/officeDocument/2006/relationships/slide" Target="/ppt/slides/slide10.xml" Id="R9bbb4549ba3e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封面：介绍 Pi Switch 是 Pi Coding Agent 的 Windows 桌面管理工具，本说明面向终端用户。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用量统计是应用默认首页。强调两点：不填充示例数据、所有数据来自本地。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从 pi.dev 批量导入的四步流程：搜索、勾选、批量导入、保存。注意单条预览入口仍然保留。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两步式流程是本次核心新功能：先用 /v1/models 拉到 ID，再用 ID 去 pi.dev 精准搜索，按 Provider 分组后批量导入。下方两个卡片提示鉴权和 401 排查。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对话管理四大功能：浏览搜索、详情时间线、继续重命名、导出删除。删除是不可恢复的，强调二次确认。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Skill 管理三步：安装、启用停用、卸载。强调只复制文件不执行脚本，但第三方 Skill 仍需审查。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应用设置可覆盖四类路径，留空用默认。右侧列出最常见问题，重点是保存和鉴权。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结束页：三句话总结——数据留本地、批量导入更高效、保存才写盘。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40cacc42946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8fe4cf47642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701fdb9af42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aaeaf05a041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bf0305c2248a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b08e265cbfc423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5b33bc7bc4f7d" /><Relationship Type="http://schemas.openxmlformats.org/officeDocument/2006/relationships/notesSlide" Target="/ppt/notesSlides/notesSlide1.xml" Id="R85ddb3766ad5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c67d40dee49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a0cafeb1f43ce" /><Relationship Type="http://schemas.openxmlformats.org/officeDocument/2006/relationships/notesSlide" Target="/ppt/notesSlides/notesSlide2.xml" Id="Rc6b51802c7a142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9e418635048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a07e1a2954f89" /><Relationship Type="http://schemas.openxmlformats.org/officeDocument/2006/relationships/notesSlide" Target="/ppt/notesSlides/notesSlide3.xml" Id="Rbbae31bf2e5a42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4b6f65f44081" /><Relationship Type="http://schemas.openxmlformats.org/officeDocument/2006/relationships/notesSlide" Target="/ppt/notesSlides/notesSlide4.xml" Id="Reaea94454567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81f884d084898" /><Relationship Type="http://schemas.openxmlformats.org/officeDocument/2006/relationships/notesSlide" Target="/ppt/notesSlides/notesSlide5.xml" Id="R1906373e6240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8903fcaf44d82" /><Relationship Type="http://schemas.openxmlformats.org/officeDocument/2006/relationships/notesSlide" Target="/ppt/notesSlides/notesSlide6.xml" Id="Rcad1464a2bc047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de1aa6bef468a" /><Relationship Type="http://schemas.openxmlformats.org/officeDocument/2006/relationships/notesSlide" Target="/ppt/notesSlides/notesSlide7.xml" Id="Rb5939976ebd14a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fe6426be44144" /><Relationship Type="http://schemas.openxmlformats.org/officeDocument/2006/relationships/notesSlide" Target="/ppt/notesSlides/notesSlide8.xml" Id="Ra447d6a1c5cf43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2340000"/>
            <a:ext cx="107532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  <a:latin typeface="Georgia"/>
                <a:ea typeface="Georgia"/>
              </a:rPr>
              <a:t>Pi Switch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3312000"/>
            <a:ext cx="107532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操作说明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4320000"/>
            <a:ext cx="1075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8899BB"/>
                </a:solidFill>
                <a:latin typeface="Calibri"/>
                <a:ea typeface="Calibri"/>
              </a:rPr>
              <a:t>面向终端用户的功能使用指南 · 模型 · 对话 · Skill · 用量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540000" y="360000"/>
            <a:ext cx="50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目录</a:t>
            </a:r>
          </a:p>
        </p:txBody>
      </p:sp>
      <p:sp>
        <p:nvSpPr>
          <p:cNvPr id="100004" name="TextBox 2"/>
          <p:cNvSpPr/>
          <p:nvPr/>
        </p:nvSpPr>
        <p:spPr>
          <a:xfrm xmlns:a="http://schemas.openxmlformats.org/drawingml/2006/main">
            <a:off x="540000" y="1440000"/>
            <a:ext cx="111132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5" name="TextBox 3"/>
          <p:cNvSpPr/>
          <p:nvPr/>
        </p:nvSpPr>
        <p:spPr>
          <a:xfrm xmlns:a="http://schemas.openxmlformats.org/drawingml/2006/main">
            <a:off x="900000" y="1620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1620000" y="1620000"/>
            <a:ext cx="43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用量统计</a:t>
            </a:r>
          </a:p>
        </p:txBody>
      </p:sp>
      <p:sp>
        <p:nvSpPr>
          <p:cNvPr id="100007" name="TextBox 5"/>
          <p:cNvSpPr txBox="1"/>
          <p:nvPr/>
        </p:nvSpPr>
        <p:spPr>
          <a:xfrm xmlns:a="http://schemas.openxmlformats.org/drawingml/2006/main">
            <a:off x="1620000" y="1980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Token 用量、费用、趋势与排行</a:t>
            </a:r>
          </a:p>
        </p:txBody>
      </p:sp>
      <p:sp>
        <p:nvSpPr>
          <p:cNvPr id="100008" name="TextBox 6"/>
          <p:cNvSpPr/>
          <p:nvPr/>
        </p:nvSpPr>
        <p:spPr>
          <a:xfrm xmlns:a="http://schemas.openxmlformats.org/drawingml/2006/main">
            <a:off x="900000" y="2520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00009" name="TextBox 7"/>
          <p:cNvSpPr txBox="1"/>
          <p:nvPr/>
        </p:nvSpPr>
        <p:spPr>
          <a:xfrm xmlns:a="http://schemas.openxmlformats.org/drawingml/2006/main">
            <a:off x="1620000" y="2520000"/>
            <a:ext cx="43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模型管理</a:t>
            </a:r>
          </a:p>
        </p:txBody>
      </p:sp>
      <p:sp>
        <p:nvSpPr>
          <p:cNvPr id="100010" name="TextBox 8"/>
          <p:cNvSpPr txBox="1"/>
          <p:nvPr/>
        </p:nvSpPr>
        <p:spPr>
          <a:xfrm xmlns:a="http://schemas.openxmlformats.org/drawingml/2006/main">
            <a:off x="1620000" y="2880000"/>
            <a:ext cx="86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Provider 编辑、批量导入、从 /v1/models 拉取</a:t>
            </a:r>
          </a:p>
        </p:txBody>
      </p:sp>
      <p:sp>
        <p:nvSpPr>
          <p:cNvPr id="100011" name="TextBox 9"/>
          <p:cNvSpPr/>
          <p:nvPr/>
        </p:nvSpPr>
        <p:spPr>
          <a:xfrm xmlns:a="http://schemas.openxmlformats.org/drawingml/2006/main">
            <a:off x="900000" y="3420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00012" name="TextBox 10"/>
          <p:cNvSpPr txBox="1"/>
          <p:nvPr/>
        </p:nvSpPr>
        <p:spPr>
          <a:xfrm xmlns:a="http://schemas.openxmlformats.org/drawingml/2006/main">
            <a:off x="1620000" y="3420000"/>
            <a:ext cx="43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对话管理</a:t>
            </a:r>
          </a:p>
        </p:txBody>
      </p:sp>
      <p:sp>
        <p:nvSpPr>
          <p:cNvPr id="100013" name="TextBox 11"/>
          <p:cNvSpPr txBox="1"/>
          <p:nvPr/>
        </p:nvSpPr>
        <p:spPr>
          <a:xfrm xmlns:a="http://schemas.openxmlformats.org/drawingml/2006/main">
            <a:off x="1620000" y="3780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历史对话浏览、搜索、继续、导出</a:t>
            </a:r>
          </a:p>
        </p:txBody>
      </p:sp>
      <p:sp>
        <p:nvSpPr>
          <p:cNvPr id="100014" name="TextBox 12"/>
          <p:cNvSpPr/>
          <p:nvPr/>
        </p:nvSpPr>
        <p:spPr>
          <a:xfrm xmlns:a="http://schemas.openxmlformats.org/drawingml/2006/main">
            <a:off x="900000" y="4320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100015" name="TextBox 13"/>
          <p:cNvSpPr txBox="1"/>
          <p:nvPr/>
        </p:nvSpPr>
        <p:spPr>
          <a:xfrm xmlns:a="http://schemas.openxmlformats.org/drawingml/2006/main">
            <a:off x="1620000" y="4320000"/>
            <a:ext cx="43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Skill 管理</a:t>
            </a:r>
          </a:p>
        </p:txBody>
      </p:sp>
      <p:sp>
        <p:nvSpPr>
          <p:cNvPr id="100016" name="TextBox 14"/>
          <p:cNvSpPr txBox="1"/>
          <p:nvPr/>
        </p:nvSpPr>
        <p:spPr>
          <a:xfrm xmlns:a="http://schemas.openxmlformats.org/drawingml/2006/main">
            <a:off x="1620000" y="4680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安装、启用、停用、卸载</a:t>
            </a:r>
          </a:p>
        </p:txBody>
      </p:sp>
      <p:sp>
        <p:nvSpPr>
          <p:cNvPr id="100017" name="TextBox 15"/>
          <p:cNvSpPr/>
          <p:nvPr/>
        </p:nvSpPr>
        <p:spPr>
          <a:xfrm xmlns:a="http://schemas.openxmlformats.org/drawingml/2006/main">
            <a:off x="900000" y="5220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5</a:t>
            </a:r>
          </a:p>
        </p:txBody>
      </p:sp>
      <p:sp>
        <p:nvSpPr>
          <p:cNvPr id="100018" name="TextBox 16"/>
          <p:cNvSpPr txBox="1"/>
          <p:nvPr/>
        </p:nvSpPr>
        <p:spPr>
          <a:xfrm xmlns:a="http://schemas.openxmlformats.org/drawingml/2006/main">
            <a:off x="1620000" y="5220000"/>
            <a:ext cx="43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应用设置</a:t>
            </a:r>
          </a:p>
        </p:txBody>
      </p:sp>
      <p:sp>
        <p:nvSpPr>
          <p:cNvPr id="100019" name="TextBox 17"/>
          <p:cNvSpPr txBox="1"/>
          <p:nvPr/>
        </p:nvSpPr>
        <p:spPr>
          <a:xfrm xmlns:a="http://schemas.openxmlformats.org/drawingml/2006/main">
            <a:off x="1620000" y="5580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路径覆盖与常见问题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40000" y="360000"/>
            <a:ext cx="86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用量统计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40000" y="1008000"/>
            <a:ext cx="86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i="1">
                <a:solidFill>
                  <a:srgbClr val="595959"/>
                </a:solidFill>
                <a:latin typeface="Calibri"/>
                <a:ea typeface="Calibri"/>
              </a:rPr>
              <a:t>默认首页 · 数据来自本地对话记录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540000" y="1620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包含内容</a:t>
            </a:r>
          </a:p>
        </p:txBody>
      </p:sp>
      <p:sp>
        <p:nvSpPr>
          <p:cNvPr id="100023" name="TextBox 4"/>
          <p:cNvSpPr txBox="1"/>
          <p:nvPr/>
        </p:nvSpPr>
        <p:spPr>
          <a:xfrm xmlns:a="http://schemas.openxmlformats.org/drawingml/2006/main">
            <a:off x="540000" y="2088000"/>
            <a:ext cx="468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累计 / 今日 Token、费用、请求数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输入/输出/缓存读写的 Token 构成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按日期的 Token 与费用趋势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按模型、按 Provider 的用量排行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6120000" y="1620000"/>
            <a:ext cx="252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TextBox 6"/>
          <p:cNvSpPr txBox="1"/>
          <p:nvPr/>
        </p:nvSpPr>
        <p:spPr>
          <a:xfrm xmlns:a="http://schemas.openxmlformats.org/drawingml/2006/main">
            <a:off x="6120000" y="1800000"/>
            <a:ext cx="25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0 填充</a:t>
            </a:r>
          </a:p>
        </p:txBody>
      </p:sp>
      <p:sp>
        <p:nvSpPr>
          <p:cNvPr id="100026" name="TextBox 7"/>
          <p:cNvSpPr txBox="1"/>
          <p:nvPr/>
        </p:nvSpPr>
        <p:spPr>
          <a:xfrm xmlns:a="http://schemas.openxmlformats.org/drawingml/2006/main">
            <a:off x="6120000" y="2736000"/>
            <a:ext cx="25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CADCFC"/>
                </a:solidFill>
                <a:latin typeface="Calibri"/>
                <a:ea typeface="Calibri"/>
              </a:rPr>
              <a:t>不填充示例数据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9000000" y="1620000"/>
            <a:ext cx="252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TextBox 9"/>
          <p:cNvSpPr txBox="1"/>
          <p:nvPr/>
        </p:nvSpPr>
        <p:spPr>
          <a:xfrm xmlns:a="http://schemas.openxmlformats.org/drawingml/2006/main">
            <a:off x="9000000" y="1800000"/>
            <a:ext cx="25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1E2761"/>
                </a:solidFill>
                <a:latin typeface="Georgia"/>
                <a:ea typeface="Georgia"/>
              </a:rPr>
              <a:t>本地</a:t>
            </a:r>
          </a:p>
        </p:txBody>
      </p:sp>
      <p:sp>
        <p:nvSpPr>
          <p:cNvPr id="100029" name="TextBox 10"/>
          <p:cNvSpPr txBox="1"/>
          <p:nvPr/>
        </p:nvSpPr>
        <p:spPr>
          <a:xfrm xmlns:a="http://schemas.openxmlformats.org/drawingml/2006/main">
            <a:off x="9000000" y="2736000"/>
            <a:ext cx="25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E2761"/>
                </a:solidFill>
                <a:latin typeface="Calibri"/>
                <a:ea typeface="Calibri"/>
              </a:rPr>
              <a:t>数据留在本机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2"/>
          <p:cNvSpPr txBox="1"/>
          <p:nvPr/>
        </p:nvSpPr>
        <p:spPr>
          <a:xfrm xmlns:a="http://schemas.openxmlformats.org/drawingml/2006/main">
            <a:off x="720000" y="414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Provider 编辑 · 批量导入 · 从 /v1/models 拉取</a:t>
            </a:r>
          </a:p>
        </p:txBody>
      </p:sp>
      <p:sp>
        <p:nvSpPr>
          <p:cNvPr id="100033" name="TextBox 3"/>
          <p:cNvSpPr txBox="1"/>
          <p:nvPr/>
        </p:nvSpPr>
        <p:spPr>
          <a:xfrm xmlns:a="http://schemas.openxmlformats.org/drawingml/2006/main">
            <a:off x="720000" y="1440000"/>
            <a:ext cx="28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0" b="1">
                <a:solidFill>
                  <a:srgbClr val="FFFFFF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00031" name="TextBox 1"/>
          <p:cNvSpPr txBox="1"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模型管理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4" name="TextBox 1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  <a:latin typeface="Georgia"/>
                <a:ea typeface="Georgia"/>
              </a:rPr>
              <a:t>从 pi.dev 批量导入模型</a:t>
            </a:r>
          </a:p>
        </p:txBody>
      </p:sp>
      <p:sp>
        <p:nvSpPr>
          <p:cNvPr id="100035" name="TextBox 2"/>
          <p:cNvSpPr txBox="1"/>
          <p:nvPr/>
        </p:nvSpPr>
        <p:spPr>
          <a:xfrm xmlns:a="http://schemas.openxmlformats.org/drawingml/2006/main">
            <a:off x="540000" y="1008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i="1">
                <a:solidFill>
                  <a:srgbClr val="595959"/>
                </a:solidFill>
                <a:latin typeface="Calibri"/>
                <a:ea typeface="Calibri"/>
              </a:rPr>
              <a:t>勾选多个模型一次合并进当前 Provider，按模型 ID 去重</a:t>
            </a:r>
          </a:p>
        </p:txBody>
      </p:sp>
      <p:sp>
        <p:nvSpPr>
          <p:cNvPr id="100036" name="S1"/>
          <p:cNvSpPr/>
          <p:nvPr/>
        </p:nvSpPr>
        <p:spPr>
          <a:xfrm xmlns:a="http://schemas.openxmlformats.org/drawingml/2006/main">
            <a:off x="540000" y="2160000"/>
            <a:ext cx="234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搜索</a:t>
            </a:r>
          </a:p>
        </p:txBody>
      </p:sp>
      <p:sp>
        <p:nvSpPr>
          <p:cNvPr id="100037" name="TextBox 4"/>
          <p:cNvSpPr txBox="1"/>
          <p:nvPr/>
        </p:nvSpPr>
        <p:spPr>
          <a:xfrm xmlns:a="http://schemas.openxmlformats.org/drawingml/2006/main">
            <a:off x="540000" y="3312000"/>
            <a:ext cx="23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输入模型名或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Provider，点搜索</a:t>
            </a:r>
          </a:p>
        </p:txBody>
      </p:sp>
      <p:sp>
        <p:nvSpPr>
          <p:cNvPr id="100038" name="S2"/>
          <p:cNvSpPr/>
          <p:nvPr/>
        </p:nvSpPr>
        <p:spPr>
          <a:xfrm xmlns:a="http://schemas.openxmlformats.org/drawingml/2006/main">
            <a:off x="3528000" y="2160000"/>
            <a:ext cx="234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2761"/>
                </a:solidFill>
                <a:latin typeface="Georgia"/>
                <a:ea typeface="Georgia"/>
              </a:rPr>
              <a:t>勾选</a:t>
            </a:r>
          </a:p>
        </p:txBody>
      </p:sp>
      <p:sp>
        <p:nvSpPr>
          <p:cNvPr id="100039" name="TextBox 6"/>
          <p:cNvSpPr txBox="1"/>
          <p:nvPr/>
        </p:nvSpPr>
        <p:spPr>
          <a:xfrm xmlns:a="http://schemas.openxmlformats.org/drawingml/2006/main">
            <a:off x="3528000" y="3312000"/>
            <a:ext cx="23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多选列勾选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若干模型行</a:t>
            </a:r>
          </a:p>
        </p:txBody>
      </p:sp>
      <p:sp>
        <p:nvSpPr>
          <p:cNvPr id="100040" name="S3"/>
          <p:cNvSpPr/>
          <p:nvPr/>
        </p:nvSpPr>
        <p:spPr>
          <a:xfrm xmlns:a="http://schemas.openxmlformats.org/drawingml/2006/main">
            <a:off x="6516000" y="2160000"/>
            <a:ext cx="234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批量导入</a:t>
            </a:r>
          </a:p>
        </p:txBody>
      </p:sp>
      <p:sp>
        <p:nvSpPr>
          <p:cNvPr id="100041" name="TextBox 8"/>
          <p:cNvSpPr txBox="1"/>
          <p:nvPr/>
        </p:nvSpPr>
        <p:spPr>
          <a:xfrm xmlns:a="http://schemas.openxmlformats.org/drawingml/2006/main">
            <a:off x="6516000" y="3312000"/>
            <a:ext cx="23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逐个拉配置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合并进当前 Provider</a:t>
            </a:r>
          </a:p>
        </p:txBody>
      </p:sp>
      <p:sp>
        <p:nvSpPr>
          <p:cNvPr id="100042" name="S4"/>
          <p:cNvSpPr/>
          <p:nvPr/>
        </p:nvSpPr>
        <p:spPr>
          <a:xfrm xmlns:a="http://schemas.openxmlformats.org/drawingml/2006/main">
            <a:off x="9504000" y="2160000"/>
            <a:ext cx="21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保存</a:t>
            </a:r>
          </a:p>
        </p:txBody>
      </p:sp>
      <p:sp>
        <p:nvSpPr>
          <p:cNvPr id="100043" name="TextBox 10"/>
          <p:cNvSpPr txBox="1"/>
          <p:nvPr/>
        </p:nvSpPr>
        <p:spPr>
          <a:xfrm xmlns:a="http://schemas.openxmlformats.org/drawingml/2006/main">
            <a:off x="9504000" y="3312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点保存配置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写入磁盘</a:t>
            </a:r>
          </a:p>
        </p:txBody>
      </p:sp>
      <p:cxnSp>
        <p:nvCxnSpPr>
          <p:cNvPr id="100044" name="Connector 1"/>
          <p:cNvCxnSpPr>
            <a:stCxn xmlns:a="http://schemas.openxmlformats.org/drawingml/2006/main" id="100036" idx="0"/>
            <a:endCxn xmlns:a="http://schemas.openxmlformats.org/drawingml/2006/main" id="100038" idx="0"/>
          </p:cNvCxnSpPr>
          <p:nvPr/>
        </p:nvCxnSpPr>
        <p:spPr>
          <a:xfrm xmlns:a="http://schemas.openxmlformats.org/drawingml/2006/main">
            <a:off x="2880000" y="2700000"/>
            <a:ext cx="648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cxnSp>
        <p:nvCxnSpPr>
          <p:cNvPr id="100045" name="Connector 2"/>
          <p:cNvCxnSpPr>
            <a:stCxn xmlns:a="http://schemas.openxmlformats.org/drawingml/2006/main" id="100038" idx="0"/>
            <a:endCxn xmlns:a="http://schemas.openxmlformats.org/drawingml/2006/main" id="100040" idx="0"/>
          </p:cNvCxnSpPr>
          <p:nvPr/>
        </p:nvCxnSpPr>
        <p:spPr>
          <a:xfrm xmlns:a="http://schemas.openxmlformats.org/drawingml/2006/main">
            <a:off x="5868000" y="2700000"/>
            <a:ext cx="648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cxnSp>
        <p:nvCxnSpPr>
          <p:cNvPr id="100046" name="Connector 3"/>
          <p:cNvCxnSpPr>
            <a:stCxn xmlns:a="http://schemas.openxmlformats.org/drawingml/2006/main" id="100040" idx="0"/>
            <a:endCxn xmlns:a="http://schemas.openxmlformats.org/drawingml/2006/main" id="100042" idx="0"/>
          </p:cNvCxnSpPr>
          <p:nvPr/>
        </p:nvCxnSpPr>
        <p:spPr>
          <a:xfrm xmlns:a="http://schemas.openxmlformats.org/drawingml/2006/main">
            <a:off x="8856000" y="2700000"/>
            <a:ext cx="648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7" name="TextBox 1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  <a:latin typeface="Georgia"/>
                <a:ea typeface="Georgia"/>
              </a:rPr>
              <a:t>从 Provider /v1/models 拉取并导入</a:t>
            </a:r>
          </a:p>
        </p:txBody>
      </p:sp>
      <p:sp>
        <p:nvSpPr>
          <p:cNvPr id="100048" name="TextBox 2"/>
          <p:cNvSpPr txBox="1"/>
          <p:nvPr/>
        </p:nvSpPr>
        <p:spPr>
          <a:xfrm xmlns:a="http://schemas.openxmlformats.org/drawingml/2006/main">
            <a:off x="540000" y="1008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i="1">
                <a:solidFill>
                  <a:srgbClr val="595959"/>
                </a:solidFill>
                <a:latin typeface="Calibri"/>
                <a:ea typeface="Calibri"/>
              </a:rPr>
              <a:t>用 Base URL + apiKey 拉模型 ID，再两步式从 pi.dev 批量导入</a:t>
            </a:r>
          </a:p>
        </p:txBody>
      </p:sp>
      <p:sp>
        <p:nvSpPr>
          <p:cNvPr id="100049" name="F1"/>
          <p:cNvSpPr/>
          <p:nvPr/>
        </p:nvSpPr>
        <p:spPr>
          <a:xfrm xmlns:a="http://schemas.openxmlformats.org/drawingml/2006/main">
            <a:off x="540000" y="1620000"/>
            <a:ext cx="216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拉取 /v1/models</a:t>
            </a:r>
          </a:p>
        </p:txBody>
      </p:sp>
      <p:sp>
        <p:nvSpPr>
          <p:cNvPr id="100050" name="TextBox 4"/>
          <p:cNvSpPr txBox="1"/>
          <p:nvPr/>
        </p:nvSpPr>
        <p:spPr>
          <a:xfrm xmlns:a="http://schemas.openxmlformats.org/drawingml/2006/main">
            <a:off x="540000" y="2592000"/>
            <a:ext cx="21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用 BaseURL+apiKey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GET {baseUrl}/models</a:t>
            </a:r>
          </a:p>
        </p:txBody>
      </p:sp>
      <p:sp>
        <p:nvSpPr>
          <p:cNvPr id="100051" name="F2"/>
          <p:cNvSpPr/>
          <p:nvPr/>
        </p:nvSpPr>
        <p:spPr>
          <a:xfrm xmlns:a="http://schemas.openxmlformats.org/drawingml/2006/main">
            <a:off x="3240000" y="1620000"/>
            <a:ext cx="216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第一步：选 ID</a:t>
            </a:r>
          </a:p>
        </p:txBody>
      </p:sp>
      <p:sp>
        <p:nvSpPr>
          <p:cNvPr id="100052" name="TextBox 6"/>
          <p:cNvSpPr txBox="1"/>
          <p:nvPr/>
        </p:nvSpPr>
        <p:spPr>
          <a:xfrm xmlns:a="http://schemas.openxmlformats.org/drawingml/2006/main">
            <a:off x="3240000" y="2592000"/>
            <a:ext cx="21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勾选想要的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model ID</a:t>
            </a:r>
          </a:p>
        </p:txBody>
      </p:sp>
      <p:sp>
        <p:nvSpPr>
          <p:cNvPr id="100053" name="F3"/>
          <p:cNvSpPr/>
          <p:nvPr/>
        </p:nvSpPr>
        <p:spPr>
          <a:xfrm xmlns:a="http://schemas.openxmlformats.org/drawingml/2006/main">
            <a:off x="5940000" y="1620000"/>
            <a:ext cx="234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搜索 pi.dev</a:t>
            </a:r>
          </a:p>
        </p:txBody>
      </p:sp>
      <p:sp>
        <p:nvSpPr>
          <p:cNvPr id="100054" name="TextBox 8"/>
          <p:cNvSpPr txBox="1"/>
          <p:nvPr/>
        </p:nvSpPr>
        <p:spPr>
          <a:xfrm xmlns:a="http://schemas.openxmlformats.org/drawingml/2006/main">
            <a:off x="5940000" y="2592000"/>
            <a:ext cx="234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每个 ID 去 pi.dev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精准搜索</a:t>
            </a:r>
          </a:p>
        </p:txBody>
      </p:sp>
      <p:sp>
        <p:nvSpPr>
          <p:cNvPr id="100055" name="F4"/>
          <p:cNvSpPr/>
          <p:nvPr/>
        </p:nvSpPr>
        <p:spPr>
          <a:xfrm xmlns:a="http://schemas.openxmlformats.org/drawingml/2006/main">
            <a:off x="8712000" y="162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第二步：分组选</a:t>
            </a:r>
          </a:p>
        </p:txBody>
      </p:sp>
      <p:sp>
        <p:nvSpPr>
          <p:cNvPr id="100056" name="TextBox 10"/>
          <p:cNvSpPr txBox="1"/>
          <p:nvPr/>
        </p:nvSpPr>
        <p:spPr>
          <a:xfrm xmlns:a="http://schemas.openxmlformats.org/drawingml/2006/main">
            <a:off x="8712000" y="2592000"/>
            <a:ext cx="252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按 Provider 分组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595959"/>
                </a:solidFill>
                <a:latin typeface="Calibri"/>
                <a:ea typeface="Calibri"/>
              </a:rPr>
              <a:t>勾选要导入的</a:t>
            </a:r>
          </a:p>
        </p:txBody>
      </p:sp>
      <p:cxnSp>
        <p:nvCxnSpPr>
          <p:cNvPr id="100057" name="Connector 1"/>
          <p:cNvCxnSpPr>
            <a:stCxn xmlns:a="http://schemas.openxmlformats.org/drawingml/2006/main" id="100049" idx="0"/>
            <a:endCxn xmlns:a="http://schemas.openxmlformats.org/drawingml/2006/main" id="100051" idx="0"/>
          </p:cNvCxnSpPr>
          <p:nvPr/>
        </p:nvCxnSpPr>
        <p:spPr>
          <a:xfrm xmlns:a="http://schemas.openxmlformats.org/drawingml/2006/main">
            <a:off x="2700000" y="2070000"/>
            <a:ext cx="540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cxnSp>
        <p:nvCxnSpPr>
          <p:cNvPr id="100058" name="Connector 2"/>
          <p:cNvCxnSpPr>
            <a:stCxn xmlns:a="http://schemas.openxmlformats.org/drawingml/2006/main" id="100051" idx="0"/>
            <a:endCxn xmlns:a="http://schemas.openxmlformats.org/drawingml/2006/main" id="100053" idx="0"/>
          </p:cNvCxnSpPr>
          <p:nvPr/>
        </p:nvCxnSpPr>
        <p:spPr>
          <a:xfrm xmlns:a="http://schemas.openxmlformats.org/drawingml/2006/main">
            <a:off x="5400000" y="2070000"/>
            <a:ext cx="540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cxnSp>
        <p:nvCxnSpPr>
          <p:cNvPr id="100059" name="Connector 3"/>
          <p:cNvCxnSpPr>
            <a:stCxn xmlns:a="http://schemas.openxmlformats.org/drawingml/2006/main" id="100053" idx="0"/>
            <a:endCxn xmlns:a="http://schemas.openxmlformats.org/drawingml/2006/main" id="100055" idx="0"/>
          </p:cNvCxnSpPr>
          <p:nvPr/>
        </p:nvCxnSpPr>
        <p:spPr>
          <a:xfrm xmlns:a="http://schemas.openxmlformats.org/drawingml/2006/main">
            <a:off x="8280000" y="2070000"/>
            <a:ext cx="432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sp>
        <p:nvSpPr>
          <p:cNvPr id="100060" name="F5"/>
          <p:cNvSpPr/>
          <p:nvPr/>
        </p:nvSpPr>
        <p:spPr>
          <a:xfrm xmlns:a="http://schemas.openxmlformats.org/drawingml/2006/main">
            <a:off x="4860000" y="3960000"/>
            <a:ext cx="234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批量导入 + 保存</a:t>
            </a:r>
          </a:p>
        </p:txBody>
      </p:sp>
      <p:sp>
        <p:nvSpPr>
          <p:cNvPr id="100061" name="TextBox 12"/>
          <p:cNvSpPr/>
          <p:nvPr/>
        </p:nvSpPr>
        <p:spPr>
          <a:xfrm xmlns:a="http://schemas.openxmlformats.org/drawingml/2006/main">
            <a:off x="540000" y="3960000"/>
            <a:ext cx="36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TextBox 13"/>
          <p:cNvSpPr txBox="1"/>
          <p:nvPr/>
        </p:nvSpPr>
        <p:spPr>
          <a:xfrm xmlns:a="http://schemas.openxmlformats.org/drawingml/2006/main">
            <a:off x="648000" y="2592000"/>
            <a:ext cx="342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B85042"/>
                </a:solidFill>
                <a:latin typeface="Calibri"/>
                <a:ea typeface="Calibri"/>
              </a:rPr>
              <a:t>鉴权规则</a:t>
            </a:r>
          </a:p>
        </p:txBody>
      </p:sp>
      <p:sp>
        <p:nvSpPr>
          <p:cNvPr id="100063" name="TextBox 14"/>
          <p:cNvSpPr txBox="1"/>
          <p:nvPr/>
        </p:nvSpPr>
        <p:spPr>
          <a:xfrm xmlns:a="http://schemas.openxmlformats.org/drawingml/2006/main">
            <a:off x="648000" y="4284000"/>
            <a:ext cx="34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有明文 apiKey 即自动带 Bearer； 引用不可解析</a:t>
            </a:r>
          </a:p>
        </p:txBody>
      </p:sp>
      <p:sp>
        <p:nvSpPr>
          <p:cNvPr id="100064" name="TextBox 15"/>
          <p:cNvSpPr/>
          <p:nvPr/>
        </p:nvSpPr>
        <p:spPr>
          <a:xfrm xmlns:a="http://schemas.openxmlformats.org/drawingml/2006/main">
            <a:off x="7920000" y="3960000"/>
            <a:ext cx="3312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5" name="TextBox 16"/>
          <p:cNvSpPr txBox="1"/>
          <p:nvPr/>
        </p:nvSpPr>
        <p:spPr>
          <a:xfrm xmlns:a="http://schemas.openxmlformats.org/drawingml/2006/main">
            <a:off x="8028000" y="2592000"/>
            <a:ext cx="3096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C5F2D"/>
                </a:solidFill>
                <a:latin typeface="Calibri"/>
                <a:ea typeface="Calibri"/>
              </a:rPr>
              <a:t>401 排查</a:t>
            </a:r>
          </a:p>
        </p:txBody>
      </p:sp>
      <p:sp>
        <p:nvSpPr>
          <p:cNvPr id="100066" name="TextBox 17"/>
          <p:cNvSpPr txBox="1"/>
          <p:nvPr/>
        </p:nvSpPr>
        <p:spPr>
          <a:xfrm xmlns:a="http://schemas.openxmlformats.org/drawingml/2006/main">
            <a:off x="8028000" y="4284000"/>
            <a:ext cx="3096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检查 Base URL、apiKey、是否支持 /v1/models 端点</a:t>
            </a:r>
          </a:p>
        </p:txBody>
      </p:sp>
      <p:cxnSp>
        <p:nvCxnSpPr>
          <p:cNvPr id="100067" name="Connector 4"/>
          <p:cNvCxnSpPr>
            <a:stCxn xmlns:a="http://schemas.openxmlformats.org/drawingml/2006/main" id="100055" idx="0"/>
            <a:endCxn xmlns:a="http://schemas.openxmlformats.org/drawingml/2006/main" id="100060" idx="0"/>
          </p:cNvCxnSpPr>
          <p:nvPr/>
        </p:nvCxnSpPr>
        <p:spPr>
          <a:xfrm xmlns:a="http://schemas.openxmlformats.org/drawingml/2006/main" flipH="1">
            <a:off x="7200000" y="2070000"/>
            <a:ext cx="1512000" cy="234000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 txBox="1"/>
          <p:nvPr/>
        </p:nvSpPr>
        <p:spPr>
          <a:xfrm xmlns:a="http://schemas.openxmlformats.org/drawingml/2006/main">
            <a:off x="540000" y="360000"/>
            <a:ext cx="86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对话管理</a:t>
            </a:r>
          </a:p>
        </p:txBody>
      </p:sp>
      <p:sp>
        <p:nvSpPr>
          <p:cNvPr id="100069" name="TextBox 2"/>
          <p:cNvSpPr txBox="1"/>
          <p:nvPr/>
        </p:nvSpPr>
        <p:spPr>
          <a:xfrm xmlns:a="http://schemas.openxmlformats.org/drawingml/2006/main">
            <a:off x="540000" y="1008000"/>
            <a:ext cx="86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i="1">
                <a:solidFill>
                  <a:srgbClr val="595959"/>
                </a:solidFill>
                <a:latin typeface="Calibri"/>
                <a:ea typeface="Calibri"/>
              </a:rPr>
              <a:t>扫描 ~/.pi/agent/sessions 下的对话记录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40000" y="1620000"/>
            <a:ext cx="522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TextBox 4"/>
          <p:cNvSpPr txBox="1"/>
          <p:nvPr/>
        </p:nvSpPr>
        <p:spPr>
          <a:xfrm xmlns:a="http://schemas.openxmlformats.org/drawingml/2006/main">
            <a:off x="648000" y="1656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浏览与搜索</a:t>
            </a:r>
          </a:p>
        </p:txBody>
      </p:sp>
      <p:sp>
        <p:nvSpPr>
          <p:cNvPr id="100072" name="TextBox 5"/>
          <p:cNvSpPr txBox="1"/>
          <p:nvPr/>
        </p:nvSpPr>
        <p:spPr>
          <a:xfrm xmlns:a="http://schemas.openxmlformats.org/drawingml/2006/main">
            <a:off x="648000" y="2016000"/>
            <a:ext cx="50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ADCFC"/>
                </a:solidFill>
                <a:latin typeface="Calibri"/>
                <a:ea typeface="Calibri"/>
              </a:rPr>
              <a:t>按名称、ID、项目目录或模型过滤；列表显示名称、路径、时间、Token 数、费用、模型。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6120000" y="1620000"/>
            <a:ext cx="522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4" name="TextBox 7"/>
          <p:cNvSpPr txBox="1"/>
          <p:nvPr/>
        </p:nvSpPr>
        <p:spPr>
          <a:xfrm xmlns:a="http://schemas.openxmlformats.org/drawingml/2006/main">
            <a:off x="6228000" y="1656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详情时间线</a:t>
            </a:r>
          </a:p>
        </p:txBody>
      </p:sp>
      <p:sp>
        <p:nvSpPr>
          <p:cNvPr id="100075" name="TextBox 8"/>
          <p:cNvSpPr txBox="1"/>
          <p:nvPr/>
        </p:nvSpPr>
        <p:spPr>
          <a:xfrm xmlns:a="http://schemas.openxmlformats.org/drawingml/2006/main">
            <a:off x="6228000" y="2016000"/>
            <a:ext cx="50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2761"/>
                </a:solidFill>
                <a:latin typeface="Calibri"/>
                <a:ea typeface="Calibri"/>
              </a:rPr>
              <a:t>用户消息、Pi 回复、思考内容、工具调用与结果、模型切换、上下文压缩记录，可折叠。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540000" y="3060000"/>
            <a:ext cx="522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7" name="TextBox 10"/>
          <p:cNvSpPr txBox="1"/>
          <p:nvPr/>
        </p:nvSpPr>
        <p:spPr>
          <a:xfrm xmlns:a="http://schemas.openxmlformats.org/drawingml/2006/main">
            <a:off x="648000" y="3096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继续与重命名</a:t>
            </a:r>
          </a:p>
        </p:txBody>
      </p:sp>
      <p:sp>
        <p:nvSpPr>
          <p:cNvPr id="100078" name="TextBox 11"/>
          <p:cNvSpPr txBox="1"/>
          <p:nvPr/>
        </p:nvSpPr>
        <p:spPr>
          <a:xfrm xmlns:a="http://schemas.openxmlformats.org/drawingml/2006/main">
            <a:off x="648000" y="3456000"/>
            <a:ext cx="50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2761"/>
                </a:solidFill>
                <a:latin typeface="Calibri"/>
                <a:ea typeface="Calibri"/>
              </a:rPr>
              <a:t>pi --session &lt;id&gt; 在原工作目录继续对话；可重命名显示名称。</a:t>
            </a:r>
          </a:p>
        </p:txBody>
      </p:sp>
      <p:sp>
        <p:nvSpPr>
          <p:cNvPr id="100079" name="TextBox 12"/>
          <p:cNvSpPr/>
          <p:nvPr/>
        </p:nvSpPr>
        <p:spPr>
          <a:xfrm xmlns:a="http://schemas.openxmlformats.org/drawingml/2006/main">
            <a:off x="6120000" y="3060000"/>
            <a:ext cx="522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TextBox 13"/>
          <p:cNvSpPr txBox="1"/>
          <p:nvPr/>
        </p:nvSpPr>
        <p:spPr>
          <a:xfrm xmlns:a="http://schemas.openxmlformats.org/drawingml/2006/main">
            <a:off x="6228000" y="3096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导出与删除</a:t>
            </a:r>
          </a:p>
        </p:txBody>
      </p:sp>
      <p:sp>
        <p:nvSpPr>
          <p:cNvPr id="100081" name="TextBox 14"/>
          <p:cNvSpPr txBox="1"/>
          <p:nvPr/>
        </p:nvSpPr>
        <p:spPr>
          <a:xfrm xmlns:a="http://schemas.openxmlformats.org/drawingml/2006/main">
            <a:off x="6228000" y="3456000"/>
            <a:ext cx="50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E8E8"/>
                </a:solidFill>
                <a:latin typeface="Calibri"/>
                <a:ea typeface="Calibri"/>
              </a:rPr>
              <a:t>导出为 HTML；删除直接删 JSONL 文件，二次确认，不可恢复。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 txBox="1"/>
          <p:nvPr/>
        </p:nvSpPr>
        <p:spPr>
          <a:xfrm xmlns:a="http://schemas.openxmlformats.org/drawingml/2006/main">
            <a:off x="540000" y="360000"/>
            <a:ext cx="86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Skill 管理</a:t>
            </a:r>
          </a:p>
        </p:txBody>
      </p:sp>
      <p:sp>
        <p:nvSpPr>
          <p:cNvPr id="100083" name="TextBox 2"/>
          <p:cNvSpPr txBox="1"/>
          <p:nvPr/>
        </p:nvSpPr>
        <p:spPr>
          <a:xfrm xmlns:a="http://schemas.openxmlformats.org/drawingml/2006/main">
            <a:off x="540000" y="1008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i="1">
                <a:solidFill>
                  <a:srgbClr val="595959"/>
                </a:solidFill>
                <a:latin typeface="Calibri"/>
                <a:ea typeface="Calibri"/>
              </a:rPr>
              <a:t>管理 ~/.pi/agent/skills · 只复制文件，不执行脚本</a:t>
            </a:r>
          </a:p>
        </p:txBody>
      </p:sp>
      <p:sp>
        <p:nvSpPr>
          <p:cNvPr id="100084" name="K1"/>
          <p:cNvSpPr/>
          <p:nvPr/>
        </p:nvSpPr>
        <p:spPr>
          <a:xfrm xmlns:a="http://schemas.openxmlformats.org/drawingml/2006/main">
            <a:off x="540000" y="1800000"/>
            <a:ext cx="331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安装</a:t>
            </a:r>
          </a:p>
        </p:txBody>
      </p:sp>
      <p:sp>
        <p:nvSpPr>
          <p:cNvPr id="100085" name="TextBox 4"/>
          <p:cNvSpPr txBox="1"/>
          <p:nvPr/>
        </p:nvSpPr>
        <p:spPr>
          <a:xfrm xmlns:a="http://schemas.openxmlformats.org/drawingml/2006/main">
            <a:off x="540000" y="3168000"/>
            <a:ext cx="3312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从本地目录安装，来源必须含 SKILL.md。只复制文件，不执行脚本。</a:t>
            </a:r>
          </a:p>
        </p:txBody>
      </p:sp>
      <p:sp>
        <p:nvSpPr>
          <p:cNvPr id="100086" name="K2"/>
          <p:cNvSpPr/>
          <p:nvPr/>
        </p:nvSpPr>
        <p:spPr>
          <a:xfrm xmlns:a="http://schemas.openxmlformats.org/drawingml/2006/main">
            <a:off x="4428000" y="1800000"/>
            <a:ext cx="331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启用 / 停用</a:t>
            </a:r>
          </a:p>
        </p:txBody>
      </p:sp>
      <p:sp>
        <p:nvSpPr>
          <p:cNvPr id="100087" name="TextBox 6"/>
          <p:cNvSpPr txBox="1"/>
          <p:nvPr/>
        </p:nvSpPr>
        <p:spPr>
          <a:xfrm xmlns:a="http://schemas.openxmlformats.org/drawingml/2006/main">
            <a:off x="4428000" y="3168000"/>
            <a:ext cx="3312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停用移到 skills-disabled 目录，Pi Agent 不扫描；启用移回，可无损恢复。</a:t>
            </a:r>
          </a:p>
        </p:txBody>
      </p:sp>
      <p:sp>
        <p:nvSpPr>
          <p:cNvPr id="100088" name="K3"/>
          <p:cNvSpPr/>
          <p:nvPr/>
        </p:nvSpPr>
        <p:spPr>
          <a:xfrm xmlns:a="http://schemas.openxmlformats.org/drawingml/2006/main">
            <a:off x="8316000" y="1800000"/>
            <a:ext cx="331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卸载</a:t>
            </a:r>
          </a:p>
        </p:txBody>
      </p:sp>
      <p:sp>
        <p:nvSpPr>
          <p:cNvPr id="100089" name="TextBox 8"/>
          <p:cNvSpPr txBox="1"/>
          <p:nvPr/>
        </p:nvSpPr>
        <p:spPr>
          <a:xfrm xmlns:a="http://schemas.openxmlformats.org/drawingml/2006/main">
            <a:off x="8316000" y="3168000"/>
            <a:ext cx="3312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5959"/>
                </a:solidFill>
                <a:latin typeface="Calibri"/>
                <a:ea typeface="Calibri"/>
              </a:rPr>
              <a:t>从受管目录移除，卸载前校验目录结构，避免误删任意路径。</a:t>
            </a:r>
          </a:p>
        </p:txBody>
      </p:sp>
      <p:cxnSp>
        <p:nvCxnSpPr>
          <p:cNvPr id="100090" name="Connector 1"/>
          <p:cNvCxnSpPr>
            <a:stCxn xmlns:a="http://schemas.openxmlformats.org/drawingml/2006/main" id="100084" idx="0"/>
            <a:endCxn xmlns:a="http://schemas.openxmlformats.org/drawingml/2006/main" id="100086" idx="0"/>
          </p:cNvCxnSpPr>
          <p:nvPr/>
        </p:nvCxnSpPr>
        <p:spPr>
          <a:xfrm xmlns:a="http://schemas.openxmlformats.org/drawingml/2006/main">
            <a:off x="3852000" y="2430000"/>
            <a:ext cx="576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cxnSp>
        <p:nvCxnSpPr>
          <p:cNvPr id="100091" name="Connector 2"/>
          <p:cNvCxnSpPr>
            <a:stCxn xmlns:a="http://schemas.openxmlformats.org/drawingml/2006/main" id="100086" idx="0"/>
            <a:endCxn xmlns:a="http://schemas.openxmlformats.org/drawingml/2006/main" id="100088" idx="0"/>
          </p:cNvCxnSpPr>
          <p:nvPr/>
        </p:nvCxnSpPr>
        <p:spPr>
          <a:xfrm xmlns:a="http://schemas.openxmlformats.org/drawingml/2006/main">
            <a:off x="7740000" y="2430000"/>
            <a:ext cx="576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sp>
        <p:nvSpPr>
          <p:cNvPr id="100092" name="TextBox 9"/>
          <p:cNvSpPr txBox="1"/>
          <p:nvPr/>
        </p:nvSpPr>
        <p:spPr>
          <a:xfrm xmlns:a="http://schemas.openxmlformats.org/drawingml/2006/main">
            <a:off x="540000" y="5040000"/>
            <a:ext cx="1111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i="1">
                <a:solidFill>
                  <a:srgbClr val="B85042"/>
                </a:solidFill>
                <a:latin typeface="Calibri"/>
                <a:ea typeface="Calibri"/>
              </a:rPr>
              <a:t>⚠ 第三方 Skill 使用前请自行审查内容（虽不执行脚本，但可能影响 Pi Agent 后续行为）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3" name="TextBox 1"/>
          <p:cNvSpPr txBox="1"/>
          <p:nvPr/>
        </p:nvSpPr>
        <p:spPr>
          <a:xfrm xmlns:a="http://schemas.openxmlformats.org/drawingml/2006/main">
            <a:off x="540000" y="360000"/>
            <a:ext cx="86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应用设置</a:t>
            </a:r>
          </a:p>
        </p:txBody>
      </p:sp>
      <p:sp>
        <p:nvSpPr>
          <p:cNvPr id="100094" name="TextBox 2"/>
          <p:cNvSpPr txBox="1"/>
          <p:nvPr/>
        </p:nvSpPr>
        <p:spPr>
          <a:xfrm xmlns:a="http://schemas.openxmlformats.org/drawingml/2006/main">
            <a:off x="540000" y="1008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i="1">
                <a:solidFill>
                  <a:srgbClr val="595959"/>
                </a:solidFill>
                <a:latin typeface="Calibri"/>
                <a:ea typeface="Calibri"/>
              </a:rPr>
              <a:t>覆盖默认路径 · 仅存本机 localStorage，不上传</a:t>
            </a:r>
          </a:p>
        </p:txBody>
      </p:sp>
      <p:graphicFrame>
        <p:nvGraphicFramePr>
          <p:cNvPr id="100095" name="Table 1"/>
          <p:cNvGraphicFramePr/>
          <p:nvPr/>
        </p:nvGraphicFramePr>
        <p:xfrm>
          <a:off xmlns:a="http://schemas.openxmlformats.org/drawingml/2006/main" x="540000" y="1620000"/>
          <a:ext xmlns:a="http://schemas.openxmlformats.org/drawingml/2006/main" cx="5760000" cy="216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80000"/>
                <a:gridCol w="2880000"/>
              </a:tblGrid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配置项</a:t>
                      </a:r>
                      <a:endParaRPr lang="en-US"/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默认位置</a:t>
                      </a:r>
                      <a:endParaRPr lang="en-US"/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Pi 可执行文件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pi（PATH 查找）</a:t>
                      </a:r>
                      <a:endParaRPr lang="en-US"/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模型配置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~/.pi/agent/models.json</a:t>
                      </a:r>
                      <a:endParaRPr lang="en-US"/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Session 目录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~/.pi/agent/sessions</a:t>
                      </a:r>
                      <a:endParaRPr lang="en-US"/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Skill 目录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~/.pi/agent/skills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96" name="TextBox 3"/>
          <p:cNvSpPr/>
          <p:nvPr/>
        </p:nvSpPr>
        <p:spPr>
          <a:xfrm xmlns:a="http://schemas.openxmlformats.org/drawingml/2006/main">
            <a:off x="6660000" y="1620000"/>
            <a:ext cx="4993200" cy="32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TextBox 4"/>
          <p:cNvSpPr txBox="1"/>
          <p:nvPr/>
        </p:nvSpPr>
        <p:spPr>
          <a:xfrm xmlns:a="http://schemas.openxmlformats.org/drawingml/2006/main">
            <a:off x="6840000" y="1692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常见问题</a:t>
            </a:r>
          </a:p>
        </p:txBody>
      </p:sp>
      <p:sp>
        <p:nvSpPr>
          <p:cNvPr id="100098" name="TextBox 5"/>
          <p:cNvSpPr txBox="1"/>
          <p:nvPr/>
        </p:nvSpPr>
        <p:spPr>
          <a:xfrm xmlns:a="http://schemas.openxmlformats.org/drawingml/2006/main">
            <a:off x="6840000" y="2088000"/>
            <a:ext cx="4680000" cy="2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• 编辑后没保存？需点“保存配置”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• /v1/models 报 401？检查明文 apiKey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• 拉到空列表？检查 Base URL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• 删除对话不可恢复，请谨慎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• API Key 建议用  引用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• 启动失败？装 WebView2 Runtime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99" name="TextBox 1"/>
          <p:cNvSpPr txBox="1"/>
          <p:nvPr/>
        </p:nvSpPr>
        <p:spPr>
          <a:xfrm xmlns:a="http://schemas.openxmlformats.org/drawingml/2006/main">
            <a:off x="720000" y="1800000"/>
            <a:ext cx="1075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开始使用 Pi Switch</a:t>
            </a:r>
          </a:p>
        </p:txBody>
      </p:sp>
      <p:sp>
        <p:nvSpPr>
          <p:cNvPr id="100100" name="TextBox 2"/>
          <p:cNvSpPr txBox="1"/>
          <p:nvPr/>
        </p:nvSpPr>
        <p:spPr>
          <a:xfrm xmlns:a="http://schemas.openxmlformats.org/drawingml/2006/main">
            <a:off x="720000" y="288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所有数据留在本机 · 批量导入更高效 · 保存才写盘</a:t>
            </a:r>
          </a:p>
        </p:txBody>
      </p:sp>
      <p:sp>
        <p:nvSpPr>
          <p:cNvPr id="100101" name="TextBox 3"/>
          <p:cNvSpPr txBox="1"/>
          <p:nvPr/>
        </p:nvSpPr>
        <p:spPr>
          <a:xfrm xmlns:a="http://schemas.openxmlformats.org/drawingml/2006/main">
            <a:off x="720000" y="4320000"/>
            <a:ext cx="1075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i="1">
                <a:solidFill>
                  <a:srgbClr val="8899BB"/>
                </a:solidFill>
                <a:latin typeface="Calibri"/>
                <a:ea typeface="Calibri"/>
              </a:rPr>
              <a:t>详细操作步骤请查阅同目录 Word 文档与 OPERATIONS.md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2026-08-14T16:04:06Z</dcterms:created>
  <cp:lastModifiedBy>OfficeCLI</cp:lastModifiedBy>
  <dcterms:modified xsi:type="dcterms:W3CDTF">2026-08-14T16:04:06Z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2026-08-14T16:11:59Z</vt:lpwstr>
  </op:property>
</op:Properties>
</file>